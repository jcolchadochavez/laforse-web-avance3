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– 0:30]
Buenos días. Soy Jens Colchado, código U24270825. Presento el Avance 3 del proyecto LAFORSE-HG, un laboratorio de peritaje informático.
En este avance el sitio dejó de ser solo informativo: ahora es un sistema que registra solicitudes, casos y peritos en una base de datos MySQL, integrando el frontend, el backend y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 – 1:15]
En el Avance 2 los servicios y los casos estaban escritos en listas dentro del código, y las solicitudes del formulario se perdían al reiniciar la aplicación.
En este avance agregué Spring Data JPA y MySQL. Ahora todo se guarda en la base de datos laforse_db, hay un CRUD completo de casos y peritos, una bandeja de solicitudes que se convierten en casos, y un API REST en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 – 2:05]
Así se comunican las partes. El navegador envía formularios a los controladores web, que responden con vistas Thymeleaf. Un cliente externo, como Postman, usa el API REST y recibe JSON.
Lo importante es que los dos caminos llegan a los mismos servicios, donde están las validaciones y reglas de negocio, así que se aplican igual en ambos.
Los servicios usan repositorios de Spring Data JPA; Hibernate genera el SQL y el driver JDBC lo ejecuta en MySQL.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[2:05 – 2:55]
La base de datos tiene cuatro tablas. Servicio es el catálogo; perito, el equipo técnico; solicitud, lo que envía el cliente desde el formulario; y caso, el expediente.
Caso se relaciona con perito y con servicio, y de forma opcional con la solicitud que lo originó: son las claves foráneas.
Además usé restricciones UNIQUE para el expediente, el correo del perito y el código de solicitud, y un CHECK para el formato PJ-año-número.
El script de creación está en la carpeta database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 – 3:45]
Este es el módulo de gestión. En el listado los casos se leen de MySQL, con conteo por estado, filtro y búsqueda.
Para registrar, el sistema sugiere el siguiente número de expediente; al guardar se hace un INSERT y vuelve al listado con un mensaje de éxito.
Editar hace un UPDATE, y para eliminar pido confirmación en una ventana modal antes del DELETE. Lo mismo existe para peritos, y las solicitudes del formulario de contacto se pueden convertir en un caso con un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 – 4:40]
Para que no entren datos incorrectos hay tres barreras. Primero el navegador, con los atributos de HTML5 y los estilos de Bootstrap. Segundo el servidor, con Bean Validation y @Valid: aquí se ve el formulario devuelto con un mensaje por cada campo. Tercero, la base de datos, con las restricciones UNIQUE, de clave foránea y CHECK.
Encima de eso están las reglas de negocio en los servicios: el expediente no se repite, la fecha no puede ser futura, un caso con dictamen entregado ya no se edita ni se elimina, no se borra un perito que tiene casos, y una solicitud crítica abre el caso como urgente.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[4:40 – 5:35]
Para comprobar que todo funciona escribí 20 pruebas automáticas con JUnit y MockMvc: las páginas, el CRUD, las reglas de negocio y el API. Las 20 pasan con Hibernate real.
También probé el sistema conectado a MySQL. En la consulta se ven los casos registrados y editados, y el que eliminé ya no aparece. Si intento borrar un perito con casos directamente en MySQL, la clave foránea lo impide con el error 1451.
Y en el API, registrar responde 201 Created, y un expediente repetido responde 409 Conflict con el mensaje de la regla.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[5:35 – 6:15]
Para el diseño elaboré los diagramas UML. El de casos de uso tiene tres actores: el cliente, que envía solicitudes; el administrador, que gestiona casos, peritos y solicitudes; y un cliente externo que consume el API.
El diagrama de secuencia muestra el registro de un caso, desde la vista hasta el INSERT en MySQL, con sus dos caminos de error. Y el diagrama de clases muestra las entidades, los repositorios, los servicios y los controladores. En el informe está la especificación de cada caso de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[6:15 – 7:00]
Como resultado, el sistema tiene cuatro tablas en MySQL, tres módulos CRUD, siete reglas de negocio y veinte pruebas aprobadas.
Aprendí que JPA e Hibernate permiten guardar datos sin escribir SQL para lo común; que separar controlador, servicio y repositorio permite reutilizar las mismas reglas en la web y en el API; y que validar en tres niveles da un sistema más confiable.
Para el siguiente avance agregaré inicio de sesión con roles usando Spring Security, el historial de estados de cada caso y la carga de documentos. Muchas gracias; quedo atento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playlist?list=PLMEk-IU6stbw" TargetMode="External"/><Relationship Id="rId2" Type="http://schemas.openxmlformats.org/officeDocument/2006/relationships/hyperlink" Target="https://github.com/jcolchadochavez/laforse-web-avance3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822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DESARROLLO WEB · AVANCE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LAFORSE-</a:t>
            </a:r>
            <a:pPr indent="0" marL="0">
              <a:buNone/>
            </a:pPr>
            <a:r>
              <a:rPr lang="en-US" sz="5400" b="1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2402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gestión de solicitudes y casos periciales con Spring Boot, JPA y MySQL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29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Frontend + Backend + Base de Datos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749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 Fabrizio Colchado Chavez · U24270825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Hernan Francisco Peña Carnero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del Perú · Octubre 2026</a:t>
            </a:r>
            <a:endParaRPr lang="en-US" sz="1300" dirty="0"/>
          </a:p>
        </p:txBody>
      </p:sp>
      <p:pic>
        <p:nvPicPr>
          <p:cNvPr id="7" name="Image 0" descr="Listado de casos con alerta de registro exito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231327"/>
            <a:ext cx="5029200" cy="430390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mostrar información a guardarla en MySQL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LAFORSE-HG · Avance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50876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51015" y="150876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E3F5F7"/>
          </a:solidFill>
          <a:ln w="12700">
            <a:solidFill>
              <a:srgbClr val="E3F5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informativo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74320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listas dentro del código Java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solicitudes se perdían al reiniciar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solo de lectura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base de datos ni API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071055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071055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 base de datos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071055" y="274320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con 4 tablas relacionadas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casos, peritos y solicitudes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y validaciones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/api/casos en JSON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730088" y="3246120"/>
            <a:ext cx="731520" cy="731520"/>
          </a:xfrm>
          <a:prstGeom prst="ellipse">
            <a:avLst/>
          </a:prstGeom>
          <a:solidFill>
            <a:srgbClr val="13A3B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30088" y="3227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 y base de datos en capas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LAFORSE-HG · Avance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7" name="Image 0" descr="Diagrama de arquitectura en cap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7587"/>
            <a:ext cx="11185855" cy="195978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4343400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4553712"/>
            <a:ext cx="384048" cy="384048"/>
          </a:xfrm>
          <a:prstGeom prst="ellipse">
            <a:avLst/>
          </a:prstGeom>
          <a:solidFill>
            <a:srgbClr val="13A3B4"/>
          </a:solidFill>
          <a:ln w="12700">
            <a:solidFill>
              <a:srgbClr val="13A3B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45537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servicio para todo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5029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vistas Thymeleaf y el API REST llaman al mismo CasoService.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97680" y="4343400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26280" y="4553712"/>
            <a:ext cx="384048" cy="384048"/>
          </a:xfrm>
          <a:prstGeom prst="ellipse">
            <a:avLst/>
          </a:prstGeom>
          <a:solidFill>
            <a:srgbClr val="13A3B4"/>
          </a:solidFill>
          <a:ln w="12700">
            <a:solidFill>
              <a:srgbClr val="13A3B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262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0" y="45537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ORM genera el SQL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5029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Hibernate convierten save(), findAll() y delete() en INSERT, SELECT y DELETE.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092440" y="4343400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21040" y="4553712"/>
            <a:ext cx="384048" cy="384048"/>
          </a:xfrm>
          <a:prstGeom prst="ellipse">
            <a:avLst/>
          </a:prstGeom>
          <a:solidFill>
            <a:srgbClr val="13A3B4"/>
          </a:solidFill>
          <a:ln w="12700">
            <a:solidFill>
              <a:srgbClr val="13A3B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3210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823960" y="45537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controlados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321040" y="5029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error en la web; JSON con 400, 404 o 409 en el API.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tablas relacionadas en laforse_db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LAFORSE-HG · Avance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7" name="Image 0" descr="Modelo entidad-rel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990" y="1325880"/>
            <a:ext cx="578122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086600" y="1371600"/>
            <a:ext cx="4599432" cy="1024128"/>
          </a:xfrm>
          <a:prstGeom prst="roundRect">
            <a:avLst>
              <a:gd name="adj" fmla="val 1071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69480" y="148132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641080" y="14996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641080" y="18470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· perito · solicitud · caso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086600" y="2532888"/>
            <a:ext cx="4599432" cy="1024128"/>
          </a:xfrm>
          <a:prstGeom prst="roundRect">
            <a:avLst>
              <a:gd name="adj" fmla="val 10714"/>
            </a:avLst>
          </a:prstGeom>
          <a:solidFill>
            <a:srgbClr val="E3F5F7"/>
          </a:solidFill>
          <a:ln w="12700">
            <a:solidFill>
              <a:srgbClr val="E3F5F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269480" y="2642616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8641080" y="26609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foráneas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641080" y="30083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→ perito, servicio, solicitud; solicitud → servicio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086600" y="3694176"/>
            <a:ext cx="4599432" cy="1024128"/>
          </a:xfrm>
          <a:prstGeom prst="roundRect">
            <a:avLst>
              <a:gd name="adj" fmla="val 1071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269480" y="3803904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4"/>
          <p:cNvSpPr txBox="1"/>
          <p:nvPr/>
        </p:nvSpPr>
        <p:spPr>
          <a:xfrm>
            <a:off x="8641080" y="3822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UNIQUE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8641080" y="41696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expediente, correo del perito, código de solicitud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086600" y="4855464"/>
            <a:ext cx="4599432" cy="1024128"/>
          </a:xfrm>
          <a:prstGeom prst="roundRect">
            <a:avLst>
              <a:gd name="adj" fmla="val 10714"/>
            </a:avLst>
          </a:prstGeom>
          <a:solidFill>
            <a:srgbClr val="E3F5F7"/>
          </a:solidFill>
          <a:ln w="12700">
            <a:solidFill>
              <a:srgbClr val="E3F5F7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269480" y="4965192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864108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y celular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8641080" y="53309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PJ-AAAA-NNNN · celular 9XXXXXXXX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CONECTADO A MySQL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listar, editar y eliminar casos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LAFORSE-HG · Avance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7" name="Image 0" descr="Caso registrado en el list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29" y="1325880"/>
            <a:ext cx="5663022" cy="48463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6949440" y="1371600"/>
            <a:ext cx="4736592" cy="1024128"/>
          </a:xfrm>
          <a:prstGeom prst="roundRect">
            <a:avLst>
              <a:gd name="adj" fmla="val 1071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32320" y="1618488"/>
            <a:ext cx="530352" cy="530352"/>
          </a:xfrm>
          <a:prstGeom prst="ellipse">
            <a:avLst/>
          </a:prstGeom>
          <a:solidFill>
            <a:srgbClr val="0B1D2E"/>
          </a:solidFill>
          <a:ln w="12700">
            <a:solidFill>
              <a:srgbClr val="0B1D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0" y="1618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/casos  ·  save() → INSERT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949440" y="2560320"/>
            <a:ext cx="4736592" cy="1024128"/>
          </a:xfrm>
          <a:prstGeom prst="roundRect">
            <a:avLst>
              <a:gd name="adj" fmla="val 1071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32320" y="2807208"/>
            <a:ext cx="530352" cy="530352"/>
          </a:xfrm>
          <a:prstGeom prst="ellipse">
            <a:avLst/>
          </a:prstGeom>
          <a:solidFill>
            <a:srgbClr val="13A3B4"/>
          </a:solidFill>
          <a:ln w="12700">
            <a:solidFill>
              <a:srgbClr val="13A3B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132320" y="2807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86384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y filtrar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86384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/casos?estado=&amp;q=  ·  consulta JPQL → SELECT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49440" y="3749040"/>
            <a:ext cx="4736592" cy="1024128"/>
          </a:xfrm>
          <a:prstGeom prst="roundRect">
            <a:avLst>
              <a:gd name="adj" fmla="val 1071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0" y="3995928"/>
            <a:ext cx="530352" cy="530352"/>
          </a:xfrm>
          <a:prstGeom prst="ellipse">
            <a:avLst/>
          </a:prstGeom>
          <a:solidFill>
            <a:srgbClr val="0B1D2E"/>
          </a:solidFill>
          <a:ln w="12700">
            <a:solidFill>
              <a:srgbClr val="0B1D2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132320" y="3995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7863840" y="3858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863840" y="4251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/casos/{id}  ·  save() → UPDATE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949440" y="4937760"/>
            <a:ext cx="4736592" cy="1024128"/>
          </a:xfrm>
          <a:prstGeom prst="roundRect">
            <a:avLst>
              <a:gd name="adj" fmla="val 1071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132320" y="5184648"/>
            <a:ext cx="530352" cy="530352"/>
          </a:xfrm>
          <a:prstGeom prst="ellipse">
            <a:avLst/>
          </a:prstGeom>
          <a:solidFill>
            <a:srgbClr val="13A3B4"/>
          </a:solidFill>
          <a:ln w="12700">
            <a:solidFill>
              <a:srgbClr val="13A3B4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132320" y="51846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7863840" y="5047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(con modal)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7863840" y="5440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/casos/{id}/eliminar  ·  delete() → DELETE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Y REGLAS DE NEGOCIO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barreras contra datos incorrectos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LAFORSE-HG · Avance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1591056"/>
            <a:ext cx="384048" cy="384048"/>
          </a:xfrm>
          <a:prstGeom prst="ellipse">
            <a:avLst/>
          </a:prstGeom>
          <a:solidFill>
            <a:srgbClr val="0B1D2E"/>
          </a:solidFill>
          <a:ln w="12700">
            <a:solidFill>
              <a:srgbClr val="0B1D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408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463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79222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Bootstrap: required, pattern, max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331720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E3F5F7"/>
          </a:solidFill>
          <a:ln w="12700">
            <a:solidFill>
              <a:srgbClr val="E3F5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" y="2551176"/>
            <a:ext cx="384048" cy="384048"/>
          </a:xfrm>
          <a:prstGeom prst="ellipse">
            <a:avLst/>
          </a:prstGeom>
          <a:solidFill>
            <a:srgbClr val="13A3B4"/>
          </a:solidFill>
          <a:ln w="12700">
            <a:solidFill>
              <a:srgbClr val="13A3B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4231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275234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Validation: @NotBlank, @Pattern, @PastOrPresent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3291840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4088" y="3511296"/>
            <a:ext cx="384048" cy="384048"/>
          </a:xfrm>
          <a:prstGeom prst="ellipse">
            <a:avLst/>
          </a:prstGeom>
          <a:solidFill>
            <a:srgbClr val="0B1D2E"/>
          </a:solidFill>
          <a:ln w="12700">
            <a:solidFill>
              <a:srgbClr val="0B1D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33832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371246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FOREIGN KEY y CHECK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4407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47091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único y fecha de inicio no futura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con dictamen entregado: solo lectura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Perito con casos: no se elimina, se desactiva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crítica → caso urgente</a:t>
            </a:r>
            <a:endParaRPr lang="en-US" sz="1400" dirty="0"/>
          </a:p>
        </p:txBody>
      </p:sp>
      <p:pic>
        <p:nvPicPr>
          <p:cNvPr id="24" name="Image 0" descr="Formulario con errores de validación del servi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339815"/>
            <a:ext cx="5513832" cy="4818449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EVIDENCIAS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20 pruebas aprobadas con MySQL e Hibernate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LAFORSE-HG · Avance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0B1D2E"/>
          </a:solidFill>
          <a:ln w="12700">
            <a:solidFill>
              <a:srgbClr val="0B1D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JUnit + MockMvc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SUCCESS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caso creado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/api/casos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expediente duplicado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RN01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00684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3544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1451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92354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bloquea el borrado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23544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foránea fk_caso_perito</a:t>
            </a:r>
            <a:endParaRPr lang="en-US" sz="1200" dirty="0"/>
          </a:p>
        </p:txBody>
      </p:sp>
      <p:pic>
        <p:nvPicPr>
          <p:cNvPr id="23" name="Image 0" descr="Consulta a la tabla caso en MySQ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30190"/>
            <a:ext cx="11185855" cy="28207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y diagramas UML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LAFORSE-HG · Avance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8" name="Image 0" descr="Casos de u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40933"/>
            <a:ext cx="3337560" cy="219325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2578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297680" y="137160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1" name="Image 1" descr="Secuencia: registrar ca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164691"/>
            <a:ext cx="3337560" cy="234573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434840" y="52578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Secuencia: registrar caso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092440" y="137160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4" name="Image 2" descr="Clas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301882"/>
            <a:ext cx="3337560" cy="20713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229600" y="52578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0292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 7 casos de uso en el informe (Anexo A).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Avance 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MySQL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691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CRUD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691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1691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aprobadas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246120"/>
            <a:ext cx="11185855" cy="1600200"/>
          </a:xfrm>
          <a:prstGeom prst="roundRect">
            <a:avLst>
              <a:gd name="adj" fmla="val 6857"/>
            </a:avLst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APRENDIDO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70332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 Hibernate permiten persistir datos sin escribir SQL para las operaciones comunes.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controlador, servicio y repositorio permite reutilizar las reglas en la web y en el API.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navegador, servidor y base de datos da tres barreras contra datos incorrectos.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AVANCE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4132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y roles con Spring Security · Historial de estados del caso · Carga de documentos del expediente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0533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</a:t>
            </a:r>
            <a:pPr indent="0" marL="0">
              <a:buNone/>
            </a:pPr>
            <a:r>
              <a:rPr lang="en-US" sz="1300" u="sng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youtube.com/playlist?list=PLMEk-IU6stbw</a:t>
            </a:r>
            <a:pPr indent="0" marL="0">
              <a:buNone/>
            </a:pPr>
            <a:r>
              <a:rPr lang="en-US" sz="1300" b="1" dirty="0">
                <a:solidFill>
                  <a:srgbClr val="13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Código: </a:t>
            </a:r>
            <a:pPr indent="0" marL="0">
              <a:buNone/>
            </a:pPr>
            <a:r>
              <a:rPr lang="en-US" sz="1300" u="sng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github.com/jcolchadochavez/laforse-web-avance3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45575" y="5989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3 – LAFORSE-HG</dc:title>
  <dc:subject>PptxGenJS Presentation</dc:subject>
  <dc:creator>Jens Fabrizio Colchado Chavez</dc:creator>
  <cp:lastModifiedBy>Jens Fabrizio Colchado Chavez</cp:lastModifiedBy>
  <cp:revision>1</cp:revision>
  <dcterms:created xsi:type="dcterms:W3CDTF">2026-10-29T23:34:34Z</dcterms:created>
  <dcterms:modified xsi:type="dcterms:W3CDTF">2026-10-29T23:34:34Z</dcterms:modified>
</cp:coreProperties>
</file>